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49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2743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0" y="2743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743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2743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2743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2743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2743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743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0515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0515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10515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0515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10515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0515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10515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0515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18288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03120" y="18288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0" y="18288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18288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18288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8288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18288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18288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26060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120" y="26060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0" y="26060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6060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26060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26060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26060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26060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7280" y="33832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03120" y="33832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08960" y="33832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0" y="33832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0" y="33832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33832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0" y="33832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38160" y="33832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7280" y="41605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03120" y="41605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08960" y="41605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0" y="41605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20640" y="41605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41605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0" y="41605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38160" y="41605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Bike Share</a:t>
            </a:r>
            <a:endParaRPr lang="en-US" sz="4400" dirty="0"/>
          </a:p>
        </p:txBody>
      </p:sp>
      <p:sp>
        <p:nvSpPr>
          <p:cNvPr id="52" name="Text 50"/>
          <p:cNvSpPr/>
          <p:nvPr/>
        </p:nvSpPr>
        <p:spPr>
          <a:xfrm>
            <a:off x="365760" y="1874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&amp; Surge Detection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3200400" y="2468880"/>
            <a:ext cx="27432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26060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for London — Santander Cycles  |  August 2023  |  769,000 Trips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22960" y="3291840"/>
            <a:ext cx="173736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22960" y="3383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769K</a:t>
            </a:r>
            <a:endParaRPr lang="en-US" sz="2800" dirty="0"/>
          </a:p>
        </p:txBody>
      </p:sp>
      <p:sp>
        <p:nvSpPr>
          <p:cNvPr id="57" name="Text 55"/>
          <p:cNvSpPr/>
          <p:nvPr/>
        </p:nvSpPr>
        <p:spPr>
          <a:xfrm>
            <a:off x="82296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Analysed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834640" y="3291840"/>
            <a:ext cx="173736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2834640" y="3383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</a:t>
            </a:r>
            <a:endParaRPr lang="en-US" sz="2800" dirty="0"/>
          </a:p>
        </p:txBody>
      </p:sp>
      <p:sp>
        <p:nvSpPr>
          <p:cNvPr id="60" name="Text 58"/>
          <p:cNvSpPr/>
          <p:nvPr/>
        </p:nvSpPr>
        <p:spPr>
          <a:xfrm>
            <a:off x="283464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846320" y="3291840"/>
            <a:ext cx="173736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4846320" y="3383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63" name="Text 61"/>
          <p:cNvSpPr/>
          <p:nvPr/>
        </p:nvSpPr>
        <p:spPr>
          <a:xfrm>
            <a:off x="484632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Clusters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858000" y="3291840"/>
            <a:ext cx="173736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858000" y="3383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0.826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85800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AUC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 operates 800+ Santander Cycles stations across London. Predicting demand surges enables proactive bike rebalancing — reducing empty stations and improving customer experience.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57400"/>
            <a:ext cx="19659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196596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demand highest?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01568"/>
            <a:ext cx="19659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 &amp; day of week patterns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05740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2057400"/>
            <a:ext cx="19659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2788920"/>
            <a:ext cx="196596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stations matter most?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3401568"/>
            <a:ext cx="19659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800 stations into 4 types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057400"/>
            <a:ext cx="19659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🔮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2788920"/>
            <a:ext cx="196596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demand?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401568"/>
            <a:ext cx="19659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ML models compared per cluster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205740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2057400"/>
            <a:ext cx="19659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03720" y="2788920"/>
            <a:ext cx="196596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detect surges?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3401568"/>
            <a:ext cx="19659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classifier, AUC = 0.826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TfL Open Data — 769,000 trips, August 2023. Enriched with hourly weather (Open-Meteo API) and UK public holidays.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Patterns</a:t>
            </a:r>
            <a:endParaRPr lang="en-US" sz="3200" dirty="0"/>
          </a:p>
        </p:txBody>
      </p:sp>
      <p:pic>
        <p:nvPicPr>
          <p:cNvPr id="3" name="Image 0" descr="/home/claude/demand_patter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5943600" cy="3566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0" y="960120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0" y="960120"/>
            <a:ext cx="6400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0528" y="960120"/>
            <a:ext cx="233172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🕗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peak at 8am &amp; 5–6pm confirms commuter-driven usage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1965960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0" y="1965960"/>
            <a:ext cx="6400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0528" y="1965960"/>
            <a:ext cx="233172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Tue–Thu generate ~40% more trips than weekends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2971800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2971800"/>
            <a:ext cx="6400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0528" y="2971800"/>
            <a:ext cx="233172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trips stay within the 30-min free usage window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3977640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3977640"/>
            <a:ext cx="6400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0528" y="3977640"/>
            <a:ext cx="233172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🌞 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trips are 4–5 mins longer — leisure cycling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-59436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2023 — peak tourist month. Commuter patterns partially suppressed by school holidays.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Clustering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39312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(k=4, silhouette=0.29) identified 4 behavioural station types</a:t>
            </a:r>
            <a:endParaRPr lang="en-US" sz="1300" dirty="0"/>
          </a:p>
        </p:txBody>
      </p:sp>
      <p:pic>
        <p:nvPicPr>
          <p:cNvPr id="4" name="Image 0" descr="/home/claude/cluster_profil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1330" y="548640"/>
            <a:ext cx="708134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526280"/>
            <a:ext cx="2011680" cy="50292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526280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District
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stations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633472" y="4526280"/>
            <a:ext cx="201168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33472" y="4526280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Use
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357 stations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9744" y="4526280"/>
            <a:ext cx="2011680" cy="5029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9744" y="4526280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
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stations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86016" y="4526280"/>
            <a:ext cx="2011680" cy="5029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86016" y="4526280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
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 stations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Behaviour — Weekday vs Weekend</a:t>
            </a:r>
            <a:endParaRPr lang="en-US" sz="3200" dirty="0"/>
          </a:p>
        </p:txBody>
      </p:sp>
      <p:pic>
        <p:nvPicPr>
          <p:cNvPr id="3" name="Image 0" descr="/home/claude/cluster_hourl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8595360" cy="2286000"/>
          </a:xfrm>
          <a:prstGeom prst="rect">
            <a:avLst/>
          </a:prstGeom>
        </p:spPr>
      </p:pic>
      <p:pic>
        <p:nvPicPr>
          <p:cNvPr id="4" name="Image 1" descr="/home/claude/cluster_weekday_weeken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3246120"/>
            <a:ext cx="859536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— Model Comparison</a:t>
            </a:r>
            <a:endParaRPr lang="en-US" sz="3200" dirty="0"/>
          </a:p>
        </p:txBody>
      </p:sp>
      <p:pic>
        <p:nvPicPr>
          <p:cNvPr id="3" name="Image 0" descr="/home/claude/model_perform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5669280" cy="283464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960120"/>
          <a:ext cx="2743200" cy="22860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District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Neighbourhood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126480" y="3383280"/>
            <a:ext cx="27432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6126480" y="3383280"/>
            <a:ext cx="2743200" cy="11887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clusters.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fails 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(R²=0.012) —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surge dynamics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tree-based models.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457200" y="4069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trained on 80% of data (time-based split, no shuffle) and evaluated on last 20%.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Demand — by Cluster Type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64008" cy="86868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601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033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District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3807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Clock-driven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960120"/>
            <a:ext cx="530352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hour_sin/cos dominates — rigid commute schedules. Demand is predictable given the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64008" cy="8686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202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🏘️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1993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Use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3408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Habit-driven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920240"/>
            <a:ext cx="530352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rolling_mean_24h most important — yesterday's pattern predicts today. Regular commuters create consistent routines.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0360"/>
            <a:ext cx="64008" cy="8686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803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🚉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29535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3009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Momentum-driven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880360"/>
            <a:ext cx="530352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demand_lag_1h dominates at 0.42 importance. Once busy, stays busy — surge dynamics.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840480"/>
            <a:ext cx="64008" cy="8686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8404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🌳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88720" y="3913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42611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&amp; weather-sensitive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840480"/>
            <a:ext cx="530352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momentum and time matter. Temperature notable — leisure cyclists are more weather-sensitive.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demand_lag_24h underperforms across all clusters — only 31 days of data limits same-hour-yesterday learning. A full year would make this the dominant feature.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Detection — High Volume Stations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classifier: surge defined as &gt;8 trips/hour (75th percentile). XGBoost with recall-optimised threshold.</a:t>
            </a:r>
            <a:endParaRPr lang="en-US" sz="1200" dirty="0"/>
          </a:p>
        </p:txBody>
      </p:sp>
      <p:pic>
        <p:nvPicPr>
          <p:cNvPr id="4" name="Image 0" descr="/home/claude/surge_detec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43000"/>
            <a:ext cx="859536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251960"/>
            <a:ext cx="19202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4251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0.826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" y="4645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68880" y="4251960"/>
            <a:ext cx="19202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68880" y="4251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468880" y="4645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Recall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0" y="4251960"/>
            <a:ext cx="19202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0" y="4251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572000" y="4645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Surges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675120" y="4251960"/>
            <a:ext cx="19202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675120" y="4251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1,029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675120" y="4645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Optimisation — Business Reasoning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Cost 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374904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Missed Surge (FN)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581912"/>
            <a:ext cx="914400" cy="2286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5819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892808"/>
            <a:ext cx="37490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runs empty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Cyclists can't rent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dissatisfaction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churn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Reputational damage to TfL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063240"/>
            <a:ext cx="374904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False Alarm (FP)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3136392"/>
            <a:ext cx="914400" cy="2286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1363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447288"/>
            <a:ext cx="37490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dispatched unnecessarily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fuel + driver 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impact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Operationally inefficient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960120"/>
            <a:ext cx="4023360" cy="640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0241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Lowering Threshold 0.5 → 0.3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3840480" cy="25603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(0.5)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Optimised (0.3)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Surges caught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surges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 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 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threshold lowered to 0.3 — catching 78 more surges at the cost of 613 additional false alarms. Operationally justified.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502920" cy="7132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01498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High Volume for automated rebalancing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3075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stations (3.3% of network) drive disproportionate demand. Deploy surge model here first — AUC=0.826 justifies operational use.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64792"/>
            <a:ext cx="502920" cy="71323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6479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81965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strategy by cluster type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112264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District: pre-position before 5pm weekdays. High Volume: real-time monitoring. Neighbourhood: weekend morning pre-positioning.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9464"/>
            <a:ext cx="502920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6946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6243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52 missed surge events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1693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surges likely share common characteristics. Manual review could reveal simple rule-based overrides to improve recall further.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74136"/>
            <a:ext cx="50292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7413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34290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anomaly detection for service failures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72160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 Volume stations performing significantly below predicted demand — likely indicates strikes, closures or maintenance issues.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78808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178808"/>
            <a:ext cx="502920" cy="7132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7880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42336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for production deployment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52628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12 months for seasonal patterns. Integrate NAB feed, event data (concerts, strikes) and retrain quarterly.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640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Known 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only —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is atypical — peak tourism, school holidays. Seasonal patterns not captured.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03911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03120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NAB data —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distinguish genuine low demand from supply-constrained demand.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63347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97480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stations —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stations have as few as 13 observations — insufficient for reliable learning.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22783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91840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event data —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Concerts, strikes drive unpredictable surges the model cannot capture.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82219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86200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risk —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frequency encoding excluded to prevent leakage from test period.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402336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051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 Steps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1682496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6824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02352" y="1572768"/>
            <a:ext cx="3456432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12+ months of TfL data for seasonal modelling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121408"/>
            <a:ext cx="3749040" cy="0"/>
          </a:xfrm>
          <a:prstGeom prst="line">
            <a:avLst/>
          </a:prstGeom>
          <a:noFill/>
          <a:ln w="635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276856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2768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02352" y="2167128"/>
            <a:ext cx="3456432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NAB (bikes available) as a real-time feature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715768"/>
            <a:ext cx="3749040" cy="0"/>
          </a:xfrm>
          <a:prstGeom prst="line">
            <a:avLst/>
          </a:prstGeom>
          <a:noFill/>
          <a:ln w="635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871216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8712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02352" y="2761488"/>
            <a:ext cx="3456432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event data via Eventbrite &amp; TfL disruption API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310128"/>
            <a:ext cx="3749040" cy="0"/>
          </a:xfrm>
          <a:prstGeom prst="line">
            <a:avLst/>
          </a:prstGeom>
          <a:noFill/>
          <a:ln w="635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465576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4655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02352" y="3355848"/>
            <a:ext cx="3456432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station-level model with train-period frequency encoding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904488"/>
            <a:ext cx="3749040" cy="0"/>
          </a:xfrm>
          <a:prstGeom prst="line">
            <a:avLst/>
          </a:prstGeom>
          <a:noFill/>
          <a:ln w="635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4059936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0599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02352" y="3950208"/>
            <a:ext cx="3456432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surge detection as live TfL operations dashboard with 1-hour lookahead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743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0" y="2743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2743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2743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2743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2743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2743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2743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0515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0515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0515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10515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10515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515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10515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05156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18288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18288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18288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18288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18288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8288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18288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82880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26060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26060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8960" y="26060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26060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640" y="26060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26060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26060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260604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7280" y="33832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03120" y="33832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08960" y="33832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33832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20640" y="33832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33832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0" y="33832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338328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" y="41605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03120" y="41605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08960" y="41605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0" y="41605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20640" y="41605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41605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41605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38160" y="4160520"/>
            <a:ext cx="45720" cy="45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2" name="Shape 50"/>
          <p:cNvSpPr/>
          <p:nvPr/>
        </p:nvSpPr>
        <p:spPr>
          <a:xfrm>
            <a:off x="3200400" y="2011680"/>
            <a:ext cx="27432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21488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Bike Share Demand Analysis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 Santander Cycles — August 2023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57200" y="3017520"/>
            <a:ext cx="15087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09067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769K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457200" y="3749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148840" y="3017520"/>
            <a:ext cx="15087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48840" y="309067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2148840" y="3749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840480" y="3017520"/>
            <a:ext cx="15087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0" y="309067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0.606</a:t>
            </a:r>
            <a:endParaRPr lang="en-US" sz="2600" dirty="0"/>
          </a:p>
        </p:txBody>
      </p:sp>
      <p:sp>
        <p:nvSpPr>
          <p:cNvPr id="62" name="Text 60"/>
          <p:cNvSpPr/>
          <p:nvPr/>
        </p:nvSpPr>
        <p:spPr>
          <a:xfrm>
            <a:off x="3840480" y="3749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532120" y="3017520"/>
            <a:ext cx="15087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32120" y="309067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0.826</a:t>
            </a:r>
            <a:endParaRPr lang="en-US" sz="2600" dirty="0"/>
          </a:p>
        </p:txBody>
      </p:sp>
      <p:sp>
        <p:nvSpPr>
          <p:cNvPr id="65" name="Text 63"/>
          <p:cNvSpPr/>
          <p:nvPr/>
        </p:nvSpPr>
        <p:spPr>
          <a:xfrm>
            <a:off x="5532120" y="3749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AUC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223760" y="3017520"/>
            <a:ext cx="15087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23760" y="309067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90.2%</a:t>
            </a:r>
            <a:endParaRPr lang="en-US" sz="2600" dirty="0"/>
          </a:p>
        </p:txBody>
      </p:sp>
      <p:sp>
        <p:nvSpPr>
          <p:cNvPr id="68" name="Text 66"/>
          <p:cNvSpPr/>
          <p:nvPr/>
        </p:nvSpPr>
        <p:spPr>
          <a:xfrm>
            <a:off x="7223760" y="3749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/riddhi997/london-bike-share-analysis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918</Words>
  <Application>Microsoft Macintosh PowerPoint</Application>
  <PresentationFormat>On-screen Show (16:9)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TfL Santander Cycles — Demand Analysis &amp; Surge Detection</dc:title>
  <dc:subject>PptxGenJS Presentation</dc:subject>
  <dc:creator>London Bike Share Analysis</dc:creator>
  <cp:lastModifiedBy>Riddhi Kedia</cp:lastModifiedBy>
  <cp:revision>3</cp:revision>
  <dcterms:created xsi:type="dcterms:W3CDTF">2026-04-29T13:24:27Z</dcterms:created>
  <dcterms:modified xsi:type="dcterms:W3CDTF">2026-04-29T13:32:10Z</dcterms:modified>
</cp:coreProperties>
</file>